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Calibri"/>
              </a:rPr>
              <a:t>T2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>Project overview — from the problem to 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8478"/>
                </a:solidFill>
                <a:latin typeface="Calibri"/>
              </a:rPr>
              <a:t>Product and Engineering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What this project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T2 Assistant: an AI assistant, in English and Arabic, for company policy questions and meeting notes.</a:t>
            </a:r>
          </a:p>
          <a:p>
            <a:pPr>
              <a:spcAft>
                <a:spcPts val="20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This talk follows the project documentation — same order, kept short.</a:t>
            </a:r>
          </a:p>
          <a:p>
            <a:pPr>
              <a:spcAft>
                <a:spcPts val="20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An earlier version was built and reviewed; this is a clean rebuild that fixes what the review found.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2. 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Getting an answer takes too long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Company documents are scattered — search returns the wrong file, or an old one.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Asking a coworker is fast, but answers differ from person to person.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Emailing HR, IT, or Finance means waiting hours or days for something the handbook already answers.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Meeting notes are summarised by hand — slow, and easy to miss an action item.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3.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One assistant, two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E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F7A45"/>
                </a:solidFill>
                <a:latin typeface="Calibri"/>
              </a:rPr>
              <a:t>Answer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4211D"/>
                </a:solidFill>
                <a:latin typeface="Calibri"/>
              </a:rPr>
              <a:t>Reads the real company documents, gives a short answer with its source, and says “I don’t know” instead of guessing.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C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A46B12"/>
                </a:solidFill>
                <a:latin typeface="Calibri"/>
              </a:rPr>
              <a:t>Summarise meetings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4211D"/>
                </a:solidFill>
                <a:latin typeface="Calibri"/>
              </a:rPr>
              <a:t>Paste in messy notes, get back a short summary and a clear list of who needs to do what.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4211D"/>
                </a:solidFill>
                <a:latin typeface="Calibri"/>
              </a:rPr>
              <a:t>•  Built as a small team of AI agents — a router picks the right specialist for each message.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4211D"/>
                </a:solidFill>
                <a:latin typeface="Calibri"/>
              </a:rPr>
              <a:t>•  Documents stay inside the company; only the question and retrieved text reach the AI model.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4211D"/>
                </a:solidFill>
                <a:latin typeface="Calibri"/>
              </a:rPr>
              <a:t>•  Every request is traced, step by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4.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What success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5573A"/>
                </a:solidFill>
                <a:latin typeface="Calibri"/>
              </a:rPr>
              <a:t>Business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Fast, correct, sourced answers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Fewer repeat questions to HR / IT / Finance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Consistent answers company-wide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Faster meeting follow-up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Company documents never leave the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91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5573A"/>
                </a:solidFill>
                <a:latin typeface="Calibri"/>
              </a:rPr>
              <a:t>Technical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10312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Agentic — decides by reasoning, no keyword lists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Grounded, sourced answers — no invented facts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A real, growable knowledge base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Standard tracing, run locally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Bilingual, measurable quality, private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5.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Where we drew the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F7A45"/>
                </a:solidFill>
                <a:latin typeface="Calibri"/>
              </a:rP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Q&amp;A and meeting-notes summarising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The agent team (router + specialists)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A defined, refreshable knowledge base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Web chat screen and a repeatable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A46B12"/>
                </a:solidFill>
                <a:latin typeface="Calibri"/>
              </a:rPr>
              <a:t>Not in this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Taking actions (booking, tickets, email)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Editing or writing policy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Voice, or a native mobile app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User sign-in and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6.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Who this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Employees and new joiners — use the assistant, ask the most questions.</a:t>
            </a:r>
          </a:p>
          <a:p>
            <a:pPr>
              <a:spcAft>
                <a:spcPts val="20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HR / IT / Finance — own the documents, keep them current, check answers in their area.</a:t>
            </a:r>
          </a:p>
          <a:p>
            <a:pPr>
              <a:spcAft>
                <a:spcPts val="20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Product Owner — sets direction, reviews and approves each phase.</a:t>
            </a:r>
          </a:p>
          <a:p>
            <a:pPr>
              <a:spcAft>
                <a:spcPts val="20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Delivery team — designs, builds, tests, evaluates and documents every phase.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7.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What it must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5573A"/>
                </a:solidFill>
                <a:latin typeface="Calibri"/>
              </a:rPr>
              <a:t>Must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Chat in English or Arabic, reply in the same language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Router decides the route by reasoning, not fixed rules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Answers cite their source, or say “I don’t know”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Summarise notes into a short list of action items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Remember the conversation; trace every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5573A"/>
                </a:solidFill>
                <a:latin typeface="Calibri"/>
              </a:rPr>
              <a:t>How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Answered in seconds, not minutes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The right document found, most of the time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No invented facts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Nothing internal sent outside except the AI call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–  A clean error, not a crash, if something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8. DATA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The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1,000 company-policy documents — 500 English, 500 Arabic.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88 topics across 8 departments (HR, IT, Finance, Facilities, Legal, Operations, Marketing, Procurement).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4 document types per topic: Policy, Procedure, FAQ, Quick Reference.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97680"/>
            <a:ext cx="10789920" cy="13716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905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4211D"/>
                </a:solidFill>
                <a:latin typeface="Calibri"/>
              </a:rPr>
              <a:t>Synthetic data for now — realistic scale to test properly, safe to share, and swaps for real company documents later with no code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9.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How it's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691640"/>
            <a:ext cx="3017520" cy="777240"/>
          </a:xfrm>
          <a:prstGeom prst="roundRect">
            <a:avLst>
              <a:gd name="adj" fmla="val 20000"/>
            </a:avLst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Router agent reads the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2286000" cy="1143000"/>
          </a:xfrm>
          <a:prstGeom prst="roundRect">
            <a:avLst>
              <a:gd name="adj" fmla="val 12000"/>
            </a:avLst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Greeting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says hello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80360"/>
            <a:ext cx="2286000" cy="1143000"/>
          </a:xfrm>
          <a:prstGeom prst="roundRect">
            <a:avLst>
              <a:gd name="adj" fmla="val 12000"/>
            </a:avLst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Answer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answers with a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880360"/>
            <a:ext cx="2286000" cy="1143000"/>
          </a:xfrm>
          <a:prstGeom prst="roundRect">
            <a:avLst>
              <a:gd name="adj" fmla="val 12000"/>
            </a:avLst>
          </a:prstGeom>
          <a:solidFill>
            <a:srgbClr val="A4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Summarise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sums up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880360"/>
            <a:ext cx="2286000" cy="1143000"/>
          </a:xfrm>
          <a:prstGeom prst="roundRect">
            <a:avLst>
              <a:gd name="adj" fmla="val 12000"/>
            </a:avLst>
          </a:prstGeom>
          <a:solidFill>
            <a:srgbClr val="6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Clarify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asks one short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•  The answer agent searches the knowledge base and writes from what it finds — nothing invented.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•  Every step is traced, and conversations are saved, so any run can be checked later.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•  Built with LangGraph, Groq, Chroma, MLflow, SQLite and FastAPI — all local or self-hosted.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10. DELIVERY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Built one stage at a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29000" cy="11430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D"/>
                </a:solidFill>
                <a:latin typeface="Calibri"/>
              </a:rPr>
              <a:t>0. Setup &amp;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429000" cy="11430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1031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D"/>
                </a:solidFill>
                <a:latin typeface="Calibri"/>
              </a:rPr>
              <a:t>1. Requirements &amp;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83080"/>
            <a:ext cx="3429000" cy="11430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1031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D"/>
                </a:solidFill>
                <a:latin typeface="Calibri"/>
              </a:rPr>
              <a:t>2. Knowledge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00400"/>
            <a:ext cx="3429000" cy="11430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D"/>
                </a:solidFill>
                <a:latin typeface="Calibri"/>
              </a:rPr>
              <a:t>3. The agent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200400"/>
            <a:ext cx="3429000" cy="11430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52044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D"/>
                </a:solidFill>
                <a:latin typeface="Calibri"/>
              </a:rPr>
              <a:t>4. Answering with 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200400"/>
            <a:ext cx="3429000" cy="11430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52044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D"/>
                </a:solidFill>
                <a:latin typeface="Calibri"/>
              </a:rPr>
              <a:t>5. Remembering conversations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17720"/>
            <a:ext cx="3429000" cy="11430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D"/>
                </a:solidFill>
                <a:latin typeface="Calibri"/>
              </a:rPr>
              <a:t>6. Tracing every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617720"/>
            <a:ext cx="3429000" cy="11430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493776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D"/>
                </a:solidFill>
                <a:latin typeface="Calibri"/>
              </a:rPr>
              <a:t>7. The chat screen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617720"/>
            <a:ext cx="3429000" cy="11430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93776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D"/>
                </a:solidFill>
                <a:latin typeface="Calibri"/>
              </a:rPr>
              <a:t>8. Evaluation &amp; hardening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8478"/>
                </a:solidFill>
                <a:latin typeface="Calibri"/>
              </a:rPr>
              <a:t>Each stage finished, tested, and written down before the next one started.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11. EVALUATION AND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The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468880" cy="196596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25400">
            <a:solidFill>
              <a:srgbClr val="4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4F7A45"/>
                </a:solidFill>
                <a:latin typeface="Calibri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211D"/>
                </a:solidFill>
                <a:latin typeface="Calibri"/>
              </a:rPr>
              <a:t>Found the right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211D"/>
                </a:solidFill>
                <a:latin typeface="Calibri"/>
              </a:rPr>
              <a:t>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83080"/>
            <a:ext cx="2468880" cy="196596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25400">
            <a:solidFill>
              <a:srgbClr val="4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4F7A45"/>
                </a:solidFill>
                <a:latin typeface="Calibr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80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211D"/>
                </a:solidFill>
                <a:latin typeface="Calibri"/>
              </a:rPr>
              <a:t>Gave the right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211D"/>
                </a:solidFill>
                <a:latin typeface="Calibri"/>
              </a:rPr>
              <a:t>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83080"/>
            <a:ext cx="2468880" cy="196596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25400">
            <a:solidFill>
              <a:srgbClr val="A46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A46B12"/>
                </a:solidFill>
                <a:latin typeface="Calibri"/>
              </a:rPr>
              <a:t>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880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211D"/>
                </a:solidFill>
                <a:latin typeface="Calibri"/>
              </a:rPr>
              <a:t>Said “I don’t know”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211D"/>
                </a:solidFill>
                <a:latin typeface="Calibri"/>
              </a:rPr>
              <a:t>when it should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783080"/>
            <a:ext cx="2468880" cy="196596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2540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C96442"/>
                </a:solidFill>
                <a:latin typeface="Calibri"/>
              </a:rPr>
              <a:t>98%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880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211D"/>
                </a:solidFill>
                <a:latin typeface="Calibri"/>
              </a:rPr>
              <a:t>Overall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211D"/>
                </a:solidFill>
                <a:latin typeface="Calibri"/>
              </a:rP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•  Test questions built from the same real data as the knowledge base — never made up.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•  Measured on a fair 50-question sample; the full 500-question test is still running (free plan, daily limit).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4211D"/>
                </a:solidFill>
                <a:latin typeface="Calibri"/>
              </a:rPr>
              <a:t>•  One target not yet met: answer speed — slower on the free AI plan.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5573A"/>
                </a:solidFill>
                <a:latin typeface="Calibri"/>
              </a:rPr>
              <a:t>12. PHASE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211D"/>
                </a:solidFill>
                <a:latin typeface="Calibri"/>
              </a:rPr>
              <a:t>The journey, in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22960" cy="635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9 phases, from project setup through to evaluation — each one finished before the next began.</a:t>
            </a:r>
          </a:p>
          <a:p>
            <a:pPr>
              <a:spcAft>
                <a:spcPts val="20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Every phase: passed the code checks, had real tests, was tried for real, then written down.</a:t>
            </a:r>
          </a:p>
          <a:p>
            <a:pPr>
              <a:spcAft>
                <a:spcPts val="20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The whole build ran over about a week.</a:t>
            </a:r>
          </a:p>
          <a:p>
            <a:pPr>
              <a:spcAft>
                <a:spcPts val="2000"/>
              </a:spcAft>
            </a:pPr>
            <a:r>
              <a:rPr sz="1900">
                <a:solidFill>
                  <a:srgbClr val="24211D"/>
                </a:solidFill>
                <a:latin typeface="Calibri"/>
              </a:rPr>
              <a:t>•  What's left: finish the full 500-question test, and add user sign-in before a wider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478"/>
                </a:solidFill>
                <a:latin typeface="Calibri"/>
              </a:rPr>
              <a:t>T2 Assistant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8478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